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622c4a44664848" /><Relationship Type="http://schemas.openxmlformats.org/officeDocument/2006/relationships/extended-properties" Target="/docProps/app.xml" Id="Rc5048b81b0c04293" /><Relationship Type="http://schemas.openxmlformats.org/officeDocument/2006/relationships/officeDocument" Target="/ppt/presentation.xml" Id="R45a383319b8643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e4afdc893042cb"/>
  </p:sldMasterIdLst>
  <p:notesMasterIdLst>
    <p:notesMasterId xmlns:r="http://schemas.openxmlformats.org/officeDocument/2006/relationships" r:id="Rf300f9ca1ba2445f"/>
  </p:notesMasterIdLst>
  <p:sldIdLst>
    <p:sldId xmlns:r="http://schemas.openxmlformats.org/officeDocument/2006/relationships" id="256" r:id="Rf41c17fd9a0a4542"/>
    <p:sldId xmlns:r="http://schemas.openxmlformats.org/officeDocument/2006/relationships" id="257" r:id="R19d8d5c05ec24eb7"/>
    <p:sldId xmlns:r="http://schemas.openxmlformats.org/officeDocument/2006/relationships" id="258" r:id="R227c9164148e43c9"/>
    <p:sldId xmlns:r="http://schemas.openxmlformats.org/officeDocument/2006/relationships" id="259" r:id="R198d33362b014f8a"/>
    <p:sldId xmlns:r="http://schemas.openxmlformats.org/officeDocument/2006/relationships" id="260" r:id="Re050ae9018844a06"/>
    <p:sldId xmlns:r="http://schemas.openxmlformats.org/officeDocument/2006/relationships" id="261" r:id="R3317d3ed48b143d9"/>
    <p:sldId xmlns:r="http://schemas.openxmlformats.org/officeDocument/2006/relationships" id="262" r:id="R1d17d25ad95b46f0"/>
    <p:sldId xmlns:r="http://schemas.openxmlformats.org/officeDocument/2006/relationships" id="263" r:id="R9cb71430854d4546"/>
    <p:sldId xmlns:r="http://schemas.openxmlformats.org/officeDocument/2006/relationships" id="264" r:id="R81d5ea07e89b4ee7"/>
    <p:sldId xmlns:r="http://schemas.openxmlformats.org/officeDocument/2006/relationships" id="265" r:id="R758f4828e9a541b5"/>
    <p:sldId xmlns:r="http://schemas.openxmlformats.org/officeDocument/2006/relationships" id="266" r:id="R13b30ce75b76423d"/>
    <p:sldId xmlns:r="http://schemas.openxmlformats.org/officeDocument/2006/relationships" id="267" r:id="Rcdfece04837c476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0c77ec758a49b6" /><Relationship Type="http://schemas.openxmlformats.org/officeDocument/2006/relationships/slideMaster" Target="/ppt/slideMasters/slideMaster1.xml" Id="R22e4afdc893042cb" /><Relationship Type="http://schemas.openxmlformats.org/officeDocument/2006/relationships/notesMaster" Target="/ppt/notesMasters/notesMaster1.xml" Id="Rf300f9ca1ba2445f" /><Relationship Type="http://schemas.openxmlformats.org/officeDocument/2006/relationships/presProps" Target="/ppt/presProps.xml" Id="R4869bfffdc4746c3" /><Relationship Type="http://schemas.openxmlformats.org/officeDocument/2006/relationships/tableStyles" Target="/ppt/tableStyles.xml" Id="R6c5874eec29e44c1" /><Relationship Type="http://schemas.openxmlformats.org/officeDocument/2006/relationships/slide" Target="/ppt/slides/slide1.xml" Id="Rf41c17fd9a0a4542" /><Relationship Type="http://schemas.openxmlformats.org/officeDocument/2006/relationships/slide" Target="/ppt/slides/slide2.xml" Id="R19d8d5c05ec24eb7" /><Relationship Type="http://schemas.openxmlformats.org/officeDocument/2006/relationships/slide" Target="/ppt/slides/slide3.xml" Id="R227c9164148e43c9" /><Relationship Type="http://schemas.openxmlformats.org/officeDocument/2006/relationships/slide" Target="/ppt/slides/slide4.xml" Id="R198d33362b014f8a" /><Relationship Type="http://schemas.openxmlformats.org/officeDocument/2006/relationships/slide" Target="/ppt/slides/slide5.xml" Id="Re050ae9018844a06" /><Relationship Type="http://schemas.openxmlformats.org/officeDocument/2006/relationships/slide" Target="/ppt/slides/slide6.xml" Id="R3317d3ed48b143d9" /><Relationship Type="http://schemas.openxmlformats.org/officeDocument/2006/relationships/slide" Target="/ppt/slides/slide7.xml" Id="R1d17d25ad95b46f0" /><Relationship Type="http://schemas.openxmlformats.org/officeDocument/2006/relationships/slide" Target="/ppt/slides/slide8.xml" Id="R9cb71430854d4546" /><Relationship Type="http://schemas.openxmlformats.org/officeDocument/2006/relationships/slide" Target="/ppt/slides/slide9.xml" Id="R81d5ea07e89b4ee7" /><Relationship Type="http://schemas.openxmlformats.org/officeDocument/2006/relationships/slide" Target="/ppt/slides/slide10.xml" Id="R758f4828e9a541b5" /><Relationship Type="http://schemas.openxmlformats.org/officeDocument/2006/relationships/slide" Target="/ppt/slides/slide11.xml" Id="R13b30ce75b76423d" /><Relationship Type="http://schemas.openxmlformats.org/officeDocument/2006/relationships/slide" Target="/ppt/slides/slide12.xml" Id="Rcdfece04837c47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b9853773674f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d97b10529f467c" /><Relationship Type="http://schemas.openxmlformats.org/officeDocument/2006/relationships/notesMaster" Target="/ppt/notesMasters/notesMaster1.xml" Id="R59d092e3a2d347d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a51b0acafb4876" /><Relationship Type="http://schemas.openxmlformats.org/officeDocument/2006/relationships/notesMaster" Target="/ppt/notesMasters/notesMaster1.xml" Id="Rf779a775069d41d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cfbaabda75491d" /><Relationship Type="http://schemas.openxmlformats.org/officeDocument/2006/relationships/notesMaster" Target="/ppt/notesMasters/notesMaster1.xml" Id="R02c4a30c4c5e4d3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846d7891384635" /><Relationship Type="http://schemas.openxmlformats.org/officeDocument/2006/relationships/notesMaster" Target="/ppt/notesMasters/notesMaster1.xml" Id="R69a16a4bc04b4db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f0340f913dd41f0" /><Relationship Type="http://schemas.openxmlformats.org/officeDocument/2006/relationships/notesMaster" Target="/ppt/notesMasters/notesMaster1.xml" Id="R79bda13bc8c143c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9a61dc7578f4f46" /><Relationship Type="http://schemas.openxmlformats.org/officeDocument/2006/relationships/notesMaster" Target="/ppt/notesMasters/notesMaster1.xml" Id="R981cc36ca3d045b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8717dc83db645ed" /><Relationship Type="http://schemas.openxmlformats.org/officeDocument/2006/relationships/notesMaster" Target="/ppt/notesMasters/notesMaster1.xml" Id="Ra2554af9ff18468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34d0fdbbe134303" /><Relationship Type="http://schemas.openxmlformats.org/officeDocument/2006/relationships/notesMaster" Target="/ppt/notesMasters/notesMaster1.xml" Id="Rf8de95e076de4a2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7f41b2243304390" /><Relationship Type="http://schemas.openxmlformats.org/officeDocument/2006/relationships/notesMaster" Target="/ppt/notesMasters/notesMaster1.xml" Id="R991f0b81e19c47e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959d6d02a3c4419" /><Relationship Type="http://schemas.openxmlformats.org/officeDocument/2006/relationships/notesMaster" Target="/ppt/notesMasters/notesMaster1.xml" Id="Rb9f7ece4bd4a440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ed4c3ed4ca94d40" /><Relationship Type="http://schemas.openxmlformats.org/officeDocument/2006/relationships/notesMaster" Target="/ppt/notesMasters/notesMaster1.xml" Id="R6c437d1de9a448c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ebb0aa1422a49cc" /><Relationship Type="http://schemas.openxmlformats.org/officeDocument/2006/relationships/notesMaster" Target="/ppt/notesMasters/notesMaster1.xml" Id="Rf543ac9612ae4b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เปิดด้วยภาพรวมของโครงการ: Digital Twin คือ workspace สำหรับศูนย์บัญชาการที่เชื่อมข้อมูลเมืองเข้ากับการปฏิบัติการและการตรวจสอบย้อนหลัง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repository: README.md</a:t>
            </a:r>
          </a:p>
          <a:p xmlns:a="http://schemas.openxmlformats.org/drawingml/2006/main">
            <a:r>
              <a:t>- Visual reference: Codex Grid Layout Library · slide-01 cover layout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อธิบาย operating model ที่ทำให้แต่ละ module มีความหมายต่อการตัดสินใจ ไม่ใช่เพียงหน้าจอแยกกัน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repository: README.md</a:t>
            </a:r>
          </a:p>
          <a:p xmlns:a="http://schemas.openxmlformats.org/drawingml/2006/main">
            <a:r>
              <a:t>- Project repository: lib/ai/queries.ts</a:t>
            </a:r>
          </a:p>
          <a:p xmlns:a="http://schemas.openxmlformats.org/drawingml/2006/main">
            <a:r>
              <a:t>- Project repository: lib/operations/queries.ts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พาผู้ฟังเห็นลำดับการส่งมอบและขอบเขตปัจจุบันของโครงการ โดย Phase 1–6 คือความสามารถที่อยู่ใน codebase แล้ว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repository: README.md</a:t>
            </a:r>
          </a:p>
          <a:p xmlns:a="http://schemas.openxmlformats.org/drawingml/2006/main">
            <a:r>
              <a:t>- Project repository: components/layout/app-sidebar.tsx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อธิบาย architecture ที่แยกชั้น UI, API, domain service และ database พร้อมชี้ให้เห็น provider boundary ของ AI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repository: package.json</a:t>
            </a:r>
          </a:p>
          <a:p xmlns:a="http://schemas.openxmlformats.org/drawingml/2006/main">
            <a:r>
              <a:t>- Project repository: app/api/v1/ai/route.ts</a:t>
            </a:r>
          </a:p>
          <a:p xmlns:a="http://schemas.openxmlformats.org/drawingml/2006/main">
            <a:r>
              <a:t>- Project repository: lib/ai/runtime.ts</a:t>
            </a:r>
          </a:p>
          <a:p xmlns:a="http://schemas.openxmlformats.org/drawingml/2006/main">
            <a:r>
              <a:t>- Visual reference: Codex Grid Layout Library · two-column process layouts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เน้นว่า permission boundary ถูกใช้ซ้ำหลายชั้น และ AI ไม่สามารถข้ามสิทธิ์ของผู้ใช้เพื่อประกอบ context ได้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repository: lib/auth/access.ts</a:t>
            </a:r>
          </a:p>
          <a:p xmlns:a="http://schemas.openxmlformats.org/drawingml/2006/main">
            <a:r>
              <a:t>- Project repository: lib/auth/guards.ts</a:t>
            </a:r>
          </a:p>
          <a:p xmlns:a="http://schemas.openxmlformats.org/drawingml/2006/main">
            <a:r>
              <a:t>- Project repository: lib/ai/queries.ts</a:t>
            </a:r>
          </a:p>
          <a:p xmlns:a="http://schemas.openxmlformats.org/drawingml/2006/main">
            <a:r>
              <a:t>- Project repository: lib/audit/logger.ts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สรุป flow การปฏิบัติการจาก signal ไปสู่ alert และ incident ที่มี owner/due date พร้อมหลักฐาน audit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repository: lib/operations/demo-data.ts</a:t>
            </a:r>
          </a:p>
          <a:p xmlns:a="http://schemas.openxmlformats.org/drawingml/2006/main">
            <a:r>
              <a:t>- Project repository: app/api/v1/alerts/route.ts</a:t>
            </a:r>
          </a:p>
          <a:p xmlns:a="http://schemas.openxmlformats.org/drawingml/2006/main">
            <a:r>
              <a:t>- Project repository: app/api/v1/incidents/route.ts</a:t>
            </a:r>
          </a:p>
          <a:p xmlns:a="http://schemas.openxmlformats.org/drawingml/2006/main">
            <a:r>
              <a:t>- Project repository: tests/unit/operations.test.ts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แสดง product surface ที่ผู้ใช้งานจะเห็นจริงจาก dashboard, map, CCTV และ IoT พร้อมตัวเลขจาก demo 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repository: lib/demo-data.ts</a:t>
            </a:r>
          </a:p>
          <a:p xmlns:a="http://schemas.openxmlformats.org/drawingml/2006/main">
            <a:r>
              <a:t>- Project repository: lib/map/demo-data.ts</a:t>
            </a:r>
          </a:p>
          <a:p xmlns:a="http://schemas.openxmlformats.org/drawingml/2006/main">
            <a:r>
              <a:t>- Project repository: lib/cctv/demo-data.ts</a:t>
            </a:r>
          </a:p>
          <a:p xmlns:a="http://schemas.openxmlformats.org/drawingml/2006/main">
            <a:r>
              <a:t>- Project repository: lib/iot/demo-data.ts</a:t>
            </a:r>
          </a:p>
          <a:p xmlns:a="http://schemas.openxmlformats.org/drawingml/2006/main">
            <a:r>
              <a:t>- Project repository: tests/unit/cctv.test.ts</a:t>
            </a:r>
          </a:p>
          <a:p xmlns:a="http://schemas.openxmlformats.org/drawingml/2006/main">
            <a:r>
              <a:t>- Project repository: tests/unit/iot.test.ts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เจาะ workflow ที่ช่วยให้ alert ไม่หายไปในรายการ แต่ถูกยกระดับเป็น incident และติดตามจนจบได้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repository: README.md</a:t>
            </a:r>
          </a:p>
          <a:p xmlns:a="http://schemas.openxmlformats.org/drawingml/2006/main">
            <a:r>
              <a:t>- Project repository: lib/operations/types.ts</a:t>
            </a:r>
          </a:p>
          <a:p xmlns:a="http://schemas.openxmlformats.org/drawingml/2006/main">
            <a:r>
              <a:t>- Project repository: lib/operations/service.ts</a:t>
            </a:r>
          </a:p>
          <a:p xmlns:a="http://schemas.openxmlformats.org/drawingml/2006/main">
            <a:r>
              <a:t>- Project repository: tests/unit/operations.test.ts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สาธิต flow ของ AI Copilot ตั้งแต่คำถามจนถึงคำตอบที่มี source citation และ related URL โดยเน้นว่า context ถูกกรองตามสิทธิ์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repository: lib/ai/runtime.ts</a:t>
            </a:r>
          </a:p>
          <a:p xmlns:a="http://schemas.openxmlformats.org/drawingml/2006/main">
            <a:r>
              <a:t>- Project repository: lib/ai/queries.ts</a:t>
            </a:r>
          </a:p>
          <a:p xmlns:a="http://schemas.openxmlformats.org/drawingml/2006/main">
            <a:r>
              <a:t>- Project repository: app/api/v1/ai/conversations/[id]/messages/route.ts</a:t>
            </a:r>
          </a:p>
          <a:p xmlns:a="http://schemas.openxmlformats.org/drawingml/2006/main">
            <a:r>
              <a:t>- Project repository: tests/unit/ai.test.ts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ใช้สไลด์นี้อธิบาย API surface และ contract ที่ทีม integration จะใช้ต่อได้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repository: README.md</a:t>
            </a:r>
          </a:p>
          <a:p xmlns:a="http://schemas.openxmlformats.org/drawingml/2006/main">
            <a:r>
              <a:t>- Project repository: lib/api/http.ts</a:t>
            </a:r>
          </a:p>
          <a:p xmlns:a="http://schemas.openxmlformats.org/drawingml/2006/main">
            <a:r>
              <a:t>- Project repository: app/api/v1/ai/route.ts</a:t>
            </a:r>
          </a:p>
          <a:p xmlns:a="http://schemas.openxmlformats.org/drawingml/2006/main">
            <a:r>
              <a:t>- Project repository: app/api/v1/alerts/route.ts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สรุปหลักฐานความพร้อมจาก test suite และ commands ที่รันได้ใน repository พร้อมชี้ว่า demo seed ใช้ข้อมูล fictional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repository: package.json</a:t>
            </a:r>
          </a:p>
          <a:p xmlns:a="http://schemas.openxmlformats.org/drawingml/2006/main">
            <a:r>
              <a:t>- Project repository: README.md</a:t>
            </a:r>
          </a:p>
          <a:p xmlns:a="http://schemas.openxmlformats.org/drawingml/2006/main">
            <a:r>
              <a:t>- Project repository: tests/unit/*.test.ts</a:t>
            </a:r>
          </a:p>
          <a:p xmlns:a="http://schemas.openxmlformats.org/drawingml/2006/main">
            <a:r>
              <a:t>- Verification run: npm run typecheck, npm run lint, npm test, npm run build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ปิดด้วย next steps ที่สอดคล้องกับโครงสร้างปัจจุบัน: real data connectors, provider abstraction และ operational scale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repository: README.md</a:t>
            </a:r>
          </a:p>
          <a:p xmlns:a="http://schemas.openxmlformats.org/drawingml/2006/main">
            <a:r>
              <a:t>- Project repository: components/layout/app-sidebar.tsx</a:t>
            </a:r>
          </a:p>
          <a:p xmlns:a="http://schemas.openxmlformats.org/drawingml/2006/main">
            <a:r>
              <a:t>- Project repository: lib/ai/runtime.ts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05d5cf087b4cc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bd42364a174b01" /><Relationship Type="http://schemas.openxmlformats.org/officeDocument/2006/relationships/slideLayout" Target="/ppt/slideLayouts/slideLayout1.xml" Id="R886e7c4f8cc049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6e7c4f8cc049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f3f0b82c5e4cab" /><Relationship Type="http://schemas.openxmlformats.org/officeDocument/2006/relationships/notesSlide" Target="/ppt/notesSlides/notesSlide1.xml" Id="Rde727f58fe324eb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340a122fc9431e" /><Relationship Type="http://schemas.openxmlformats.org/officeDocument/2006/relationships/notesSlide" Target="/ppt/notesSlides/notesSlide2.xml" Id="Rf04f08df8732452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102323bb8e4693" /><Relationship Type="http://schemas.openxmlformats.org/officeDocument/2006/relationships/notesSlide" Target="/ppt/notesSlides/notesSlide3.xml" Id="Rd50f80c20e8144c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1eead0c8d54ca4" /><Relationship Type="http://schemas.openxmlformats.org/officeDocument/2006/relationships/notesSlide" Target="/ppt/notesSlides/notesSlide4.xml" Id="R9726104b11a443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6b5f50fe114144" /><Relationship Type="http://schemas.openxmlformats.org/officeDocument/2006/relationships/notesSlide" Target="/ppt/notesSlides/notesSlide5.xml" Id="Rff16d86bb36347d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c8110677764d7c" /><Relationship Type="http://schemas.openxmlformats.org/officeDocument/2006/relationships/notesSlide" Target="/ppt/notesSlides/notesSlide6.xml" Id="R080b275c087346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c609067243430c" /><Relationship Type="http://schemas.openxmlformats.org/officeDocument/2006/relationships/notesSlide" Target="/ppt/notesSlides/notesSlide7.xml" Id="R7e0d96e7ddf0489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60baaf39b74d66" /><Relationship Type="http://schemas.openxmlformats.org/officeDocument/2006/relationships/notesSlide" Target="/ppt/notesSlides/notesSlide8.xml" Id="R17977fae7ddd411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17853c22064ce6" /><Relationship Type="http://schemas.openxmlformats.org/officeDocument/2006/relationships/notesSlide" Target="/ppt/notesSlides/notesSlide9.xml" Id="R1549586020824df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10c92a1f6c4548" /><Relationship Type="http://schemas.openxmlformats.org/officeDocument/2006/relationships/notesSlide" Target="/ppt/notesSlides/notesSlide10.xml" Id="R7e3eb8143e94480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c1626f5e4145d9" /><Relationship Type="http://schemas.openxmlformats.org/officeDocument/2006/relationships/notesSlide" Target="/ppt/notesSlides/notesSlide11.xml" Id="Ra42ce5b77f2047d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270d7f027345bf" /><Relationship Type="http://schemas.openxmlformats.org/officeDocument/2006/relationships/notesSlide" Target="/ppt/notesSlides/notesSlide12.xml" Id="Ra5927908c5b84d9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itle-3-1">
            <a:extLst xmlns:a="http://schemas.openxmlformats.org/drawingml/2006/main">
              <a:ext uri="{FF2B5EF4-FFF2-40B4-BE49-F238E27FC236}">
                <a16:creationId xmlns:a16="http://schemas.microsoft.com/office/drawing/2014/main" id="{27F403A2-6000-4DD5-9309-78344011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ศูนย์บัญชาการ
เมืองอัจฉริยะ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20459DC8-DF22-4D36-9AC8-AA19DCA4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Sing Buri demo platform
Project overview · Phase 1—6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3E5EF638-F517-4DB3-9CA1-586343B6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DIGITAL TWIN / INTELLIGENT CITY PLATFORM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F39EC2-E59A-4BA8-BD40-2A546CFD8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400050"/>
            <a:ext cx="41910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C5CA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9CB1CA-38A7-4891-8328-C9B39B930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400050"/>
            <a:ext cx="123825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7C3"/>
          </a:solidFill>
          <a:ln xmlns:a="http://schemas.openxmlformats.org/drawingml/2006/main" w="0">
            <a:solidFill>
              <a:srgbClr val="1C77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7B018D-3F04-4214-9E35-6E13338BE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7524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rPr>
              <a:t>ONE OPERATING PICTURE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FDDEE6-6D2C-42C6-9246-A1EE0E9C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209675"/>
            <a:ext cx="31432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225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ข้อมูลเมือง</a:t>
            </a:r>
          </a:p>
          <a:p xmlns:a="http://schemas.openxmlformats.org/drawingml/2006/main">
            <a:pPr algn="l">
              <a:defRPr sz="225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225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→ บริบท</a:t>
            </a:r>
          </a:p>
          <a:p xmlns:a="http://schemas.openxmlformats.org/drawingml/2006/main">
            <a:pPr algn="l">
              <a:defRPr sz="225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225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→ การตัดสินใจ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6E8A36-03EC-4725-9F50-3ADA58D6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19425"/>
            <a:ext cx="300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AD2"/>
          </a:solidFill>
          <a:ln xmlns:a="http://schemas.openxmlformats.org/drawingml/2006/main" w="0">
            <a:solidFill>
              <a:srgbClr val="C5CA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290A99-0946-4EE9-B730-A92EFD5B3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29000"/>
            <a:ext cx="3238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A3422B-03AB-4A16-BABF-54309AC6A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623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MAP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F65369-FB8C-4D3B-BFC4-DF1FA821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3623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พื้นที่และจุดสำคัญ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850802-9BD2-417C-A94A-7A9DDF2B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57625"/>
            <a:ext cx="3238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7C3"/>
          </a:solidFill>
          <a:ln xmlns:a="http://schemas.openxmlformats.org/drawingml/2006/main" w="0">
            <a:solidFill>
              <a:srgbClr val="1C77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C143A8-656F-4DF3-9333-7F9C96FC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79095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CCTV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006532-0475-45DA-8714-D69C4C708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7909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ภาพและเหตุการณ์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813B11-78B7-4316-AE70-E35B5C7A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286250"/>
            <a:ext cx="3238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2BF7DB-2607-45DB-8DF4-5A70B7B2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21957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IoT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455353-0E08-4FCF-B783-8B518D11C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2195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telemetry และ trend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9345D7-57AD-4A2C-95FD-8D70F9FB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714875"/>
            <a:ext cx="3238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7C3"/>
          </a:solidFill>
          <a:ln xmlns:a="http://schemas.openxmlformats.org/drawingml/2006/main" w="0">
            <a:solidFill>
              <a:srgbClr val="1C77C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763BBE-9845-40D5-8EE4-E45738A6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6482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OPS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A042A7-A97B-4551-A79E-E9E1849BE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6482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Alert → Incident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B87588-075A-4BFD-9FBB-C2E23BB6F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143500"/>
            <a:ext cx="3238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F4C8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C51099-82EB-44A8-A040-C6C44F82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076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AI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2C3348-3197-47FD-B528-CF90BB0E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50768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context-aware copilot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20F790-FBA1-4C80-B73B-403311CF2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2026 · PROJECT OVERVIEW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392E90-9CBB-464E-B8FD-9768598C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67450"/>
            <a:ext cx="542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0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13050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884B35-B427-4739-8207-60CD6D50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571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rPr>
              <a:t>DIGITAL TWIN · 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0975B7-36C5-4B1D-9242-A527AAFA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24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2625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ข้อมูลเมืองถูกออกแบบให้กลายเป็นการปฏิบัติการต่อได้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71A177-46B3-40A4-866F-02F41B81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3825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AD2"/>
          </a:solidFill>
          <a:ln xmlns:a="http://schemas.openxmlformats.org/drawingml/2006/main" w="0">
            <a:solidFill>
              <a:srgbClr val="C5CAD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FF3A3F-0263-401A-9BE8-3540F2238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Sing Buri Intelligent City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766B48-4467-42A9-A356-CA44E001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67450"/>
            <a:ext cx="542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0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CA8975-2C4E-42A8-BBF4-AB409D797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85900"/>
            <a:ext cx="495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แพลตฟอร์มไม่ได้หยุดที่การแสดงผล แต่จัดลำดับจากสัญญาณ → บริบท → การตัดสินใจ → หลักฐาน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6CD551-0C1C-493C-A3BC-35B85250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003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rPr>
              <a:t>ONE OPERATING PICTURE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4CABA5-1553-40CA-916A-77D3B0F74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124200"/>
            <a:ext cx="45720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255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มองเห็นเร็วขึ้น</a:t>
            </a:r>
          </a:p>
          <a:p xmlns:a="http://schemas.openxmlformats.org/drawingml/2006/main">
            <a:pPr algn="l">
              <a:defRPr sz="255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255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ตัดสินใจบนข้อมูล</a:t>
            </a:r>
          </a:p>
          <a:p xmlns:a="http://schemas.openxmlformats.org/drawingml/2006/main">
            <a:pPr algn="l">
              <a:defRPr sz="255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255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ตรวจสอบได้เสมอ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8B60B7-A2D7-4773-B2AA-E2457F50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028950"/>
            <a:ext cx="9620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7C3"/>
          </a:solidFill>
          <a:ln xmlns:a="http://schemas.openxmlformats.org/drawingml/2006/main" w="0">
            <a:solidFill>
              <a:srgbClr val="1C77C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26AF0B-2960-45A1-A7B7-A6F43939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47975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494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95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A4C4CC-0391-4C90-B434-0050AD04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28950"/>
            <a:ext cx="9620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7C3"/>
          </a:solidFill>
          <a:ln xmlns:a="http://schemas.openxmlformats.org/drawingml/2006/main" w="0">
            <a:solidFill>
              <a:srgbClr val="1C77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648C85-DA30-4614-9084-52589168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47975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494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95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444B07-7485-4F86-AB30-EA779EDEA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028950"/>
            <a:ext cx="9620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7C3"/>
          </a:solidFill>
          <a:ln xmlns:a="http://schemas.openxmlformats.org/drawingml/2006/main" w="0">
            <a:solidFill>
              <a:srgbClr val="1C77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15A83E-D3AF-4206-B92A-AFDE947F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847975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494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95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1EDFD4-F833-44C3-B44A-74B883C8F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409825"/>
            <a:ext cx="16764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5CA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59757C-4085-4493-BF9F-D70D318D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25717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01 · CAPTURE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39F199-8E61-4C9B-98A9-7D3A829D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2914650"/>
            <a:ext cx="133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Map</a:t>
            </a:r>
          </a:p>
          <a:p xmlns:a="http://schemas.openxmlformats.org/drawingml/2006/main">
            <a:pPr algn="l">
              <a:def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CCTV</a:t>
            </a:r>
          </a:p>
          <a:p xmlns:a="http://schemas.openxmlformats.org/drawingml/2006/main">
            <a:pPr algn="l">
              <a:def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IoT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5BE06F-52F3-4371-B5DD-5F9098329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409825"/>
            <a:ext cx="16764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5CA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C18062-2739-456D-91CC-24707F0C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5717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02 · CONTEXT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885AF8-608E-40FD-B021-945D51AC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914650"/>
            <a:ext cx="133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Dashboard</a:t>
            </a:r>
          </a:p>
          <a:p xmlns:a="http://schemas.openxmlformats.org/drawingml/2006/main">
            <a:pPr algn="l">
              <a:def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permissions</a:t>
            </a:r>
          </a:p>
          <a:p xmlns:a="http://schemas.openxmlformats.org/drawingml/2006/main">
            <a:pPr algn="l">
              <a:def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area scope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CAFE81-C704-4F63-9B22-5055D62FF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409825"/>
            <a:ext cx="16764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1C77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29A945-4411-4620-88D7-FB65B8AFE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5717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03 · ACT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84C4B8-35A9-476A-BF82-62F39660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914650"/>
            <a:ext cx="133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Alerts</a:t>
            </a:r>
          </a:p>
          <a:p xmlns:a="http://schemas.openxmlformats.org/drawingml/2006/main">
            <a:pPr algn="l">
              <a:def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Incidents</a:t>
            </a:r>
          </a:p>
          <a:p xmlns:a="http://schemas.openxmlformats.org/drawingml/2006/main">
            <a:pPr algn="l">
              <a:def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AI Copilot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4F905A-F072-49E6-BC8E-3BF4E53B9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4295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rPr>
              <a:t>04 · LEARN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BCA2AC-5B4E-4AA1-91C1-D57D2E857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4572000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Audit log · source citation · history</a:t>
            </a:r>
          </a:p>
        </p:txBody>
      </p:sp>
    </p:spTree>
    <p:extLst>
      <p:ext uri="{BB962C8B-B14F-4D97-AF65-F5344CB8AC3E}">
        <p14:creationId xmlns:p14="http://schemas.microsoft.com/office/powerpoint/2010/main" val="14796191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6E40730-F1FC-43D6-9537-F560D91DB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571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rPr>
              <a:t>DIGITAL TWIN · 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08A036-D1A6-4CB3-BD16-DC893FC8D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24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2625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ความสามารถถูกส่งมอบเป็นลำดับจาก foundation สู่ AI Copilot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7EE756-4B82-4190-9513-DA89B8F8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3825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AD2"/>
          </a:solidFill>
          <a:ln xmlns:a="http://schemas.openxmlformats.org/drawingml/2006/main" w="0">
            <a:solidFill>
              <a:srgbClr val="C5CAD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78F4B6-601E-4400-8AD6-FBB3A26E6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Sing Buri Intelligent City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CAD19C-76B5-4E98-8127-0E0D855F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67450"/>
            <a:ext cx="542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0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0D97EB-FD3A-4338-ADAD-F2F4865C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76375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872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ทุก phase เพิ่มความสามารถบน data model และ permission boundary เดิม เพื่อให้ระบบเติบโตเป็นชั้น 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F579CB-6E1A-4919-BBA6-39BEEB333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71725"/>
            <a:ext cx="1000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AD2"/>
          </a:solidFill>
          <a:ln xmlns:a="http://schemas.openxmlformats.org/drawingml/2006/main" w="0">
            <a:solidFill>
              <a:srgbClr val="C5CAD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E400E4-62AE-4877-8F54-1EE256298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098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A47720-4B54-4B90-BBAA-D0B1D4EB1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66950"/>
            <a:ext cx="342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 i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FDB849-7DEA-41BB-B713-25B2BF6D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1940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Foundation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3616A0-6E2A-432A-A537-5FB8228D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190875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Auth · RBAC · audit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B4A50B-6D2D-4CB6-8E2C-70476E81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2098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37774B-10C3-405F-A7D8-3784061B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266950"/>
            <a:ext cx="342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 i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E1A0EF-2F6D-496B-929D-3FDA9D62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81940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Map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B9A054-3D65-4BC7-AC77-1E63D76D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3190875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GIS · areas · locations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A0C87F-1AC3-43A4-828C-808595284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2098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73B160-1F32-483F-8EAF-265596CE5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266950"/>
            <a:ext cx="342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 i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274ECC-14D0-4C32-802E-65972DBF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81940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CCTV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9FD18B-2978-41A5-88BD-DADFD45B2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190875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status · snapshots · AI events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261E21-C929-493C-8835-8EF630B2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2098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BD9C4D-08A9-42A3-9BAC-A08C4DDD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266950"/>
            <a:ext cx="342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 i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0CBD42-6721-4EBB-B083-684527E0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81940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IoT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2F2A6A-3326-4B95-9E21-35B579167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190875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telemetry · readings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CBBFBE-3E5E-4AD6-811B-08377ED6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2098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88EC04-303F-4927-9DFF-25E4C494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266950"/>
            <a:ext cx="342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 i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3D266A-DDC1-4BD3-BCB5-20A23D2B4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81940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Ops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131804-7FF3-4137-9A4A-DB5BBC899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190875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alerts · incidents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E914EF-29CC-44E9-83DD-028F3162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2098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7C3"/>
          </a:solidFill>
          <a:ln xmlns:a="http://schemas.openxmlformats.org/drawingml/2006/main" w="0">
            <a:solidFill>
              <a:srgbClr val="1C77C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8F6611-369B-42F4-9E66-979A41000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266950"/>
            <a:ext cx="342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 i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6E4127-F700-4F44-B69A-855042119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281940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AI Copilot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2E3AA8-F0C6-4134-B9C7-04E73B74B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190875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context · citations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80F6A2-C72C-4C90-B750-4BDCAA586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17195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AD2"/>
          </a:solidFill>
          <a:ln xmlns:a="http://schemas.openxmlformats.org/drawingml/2006/main" w="0">
            <a:solidFill>
              <a:srgbClr val="C5CAD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9C4F8F-8709-481A-89DA-8A143E7A2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4577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rPr>
              <a:t>CURRENT DELIVERY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D71B72F-729E-42C7-8A53-EEF4919D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4953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75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Phase 1—6 เปิดใช้งานใน codebase เดียวกัน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5AFD3AC-BCF1-4D56-A6D7-F616F018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4577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NEXT HORIZON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A7B7A7-80F2-4E95-9276-BE6BABDA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743450"/>
            <a:ext cx="361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Phase 7 · integrations &amp; scale</a:t>
            </a:r>
          </a:p>
          <a:p xmlns:a="http://schemas.openxmlformats.org/drawingml/2006/main">
            <a:pPr algn="l">
              <a:defRPr sz="165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Phase 8 · reports</a:t>
            </a:r>
          </a:p>
        </p:txBody>
      </p:sp>
    </p:spTree>
    <p:extLst>
      <p:ext uri="{BB962C8B-B14F-4D97-AF65-F5344CB8AC3E}">
        <p14:creationId xmlns:p14="http://schemas.microsoft.com/office/powerpoint/2010/main" val="1481604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D5B5551-B1E2-4B73-A4CC-10D6CEEB1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571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rPr>
              <a:t>DIGITAL TWIN · 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5A69F7-D03C-4231-B8DD-277D1BC3D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24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2625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สถาปัตยกรรมแยกประสบการณ์ใช้งานออกจากขอบเขตข้อมูล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305616-AC2E-4C2E-9D35-0D4888C60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3825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AD2"/>
          </a:solidFill>
          <a:ln xmlns:a="http://schemas.openxmlformats.org/drawingml/2006/main" w="0">
            <a:solidFill>
              <a:srgbClr val="C5CAD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D4EE81-ED77-47C4-9ADB-8338D655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Sing Buri Intelligent City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997706-A774-47FF-9E51-21580B04C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67450"/>
            <a:ext cx="542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0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E4900A-BAB0-498C-AB9C-C6F638B88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76375"/>
            <a:ext cx="9810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UI เดียวกันทำงานผ่าน service boundary และ API contract เดียวกัน โดยแต่ละคำขอผ่านการตรวจ session และ permission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C643A9-16BD-48F4-A0F2-BC51E88C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6289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7C3"/>
          </a:solidFill>
          <a:ln xmlns:a="http://schemas.openxmlformats.org/drawingml/2006/main" w="0">
            <a:solidFill>
              <a:srgbClr val="1C77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30CBDE-A6B4-421F-A1A6-E49FC614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447925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494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95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1EC088-E212-4349-8F04-289CB1861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6289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7C3"/>
          </a:solidFill>
          <a:ln xmlns:a="http://schemas.openxmlformats.org/drawingml/2006/main" w="0">
            <a:solidFill>
              <a:srgbClr val="1C77C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E0A509-3E5E-4FB6-BE6D-1122E3C26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447925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494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95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98F84B-36B1-46D8-A684-59A7F3B9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6289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7C3"/>
          </a:solidFill>
          <a:ln xmlns:a="http://schemas.openxmlformats.org/drawingml/2006/main" w="0">
            <a:solidFill>
              <a:srgbClr val="1C77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CC1810-9430-47E2-A8BF-1A976D03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47925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494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95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4636D4-15DE-4833-A34B-6AEF4DAD8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6289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7C3"/>
          </a:solidFill>
          <a:ln xmlns:a="http://schemas.openxmlformats.org/drawingml/2006/main" w="0">
            <a:solidFill>
              <a:srgbClr val="1C77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3CB55B-8CB0-40E4-9B15-F133AFC3D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47925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494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95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9D7D7C-193C-4A8E-AE7B-973A4385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09750"/>
            <a:ext cx="16573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5CA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B0C8C0-EF23-4247-88FF-2847365C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971675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USERS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E30EBD-4897-4DAD-A7A8-643154EF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314575"/>
            <a:ext cx="13144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Browser</a:t>
            </a:r>
          </a:p>
          <a:p xmlns:a="http://schemas.openxmlformats.org/drawingml/2006/main">
            <a:pPr algn="l">
              <a:def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Dashboard · Ops · AI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DF617F-6D39-4713-8DDF-FE24B07B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1809750"/>
            <a:ext cx="16573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5CA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774A91-E36B-456E-99F9-9EA2D8225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1971675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NEXT.JS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67A91F-B484-4838-A399-F05A8923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314575"/>
            <a:ext cx="13144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App Router</a:t>
            </a:r>
          </a:p>
          <a:p xmlns:a="http://schemas.openxmlformats.org/drawingml/2006/main">
            <a:pPr algn="l">
              <a:def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Server / Client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E9242D-9639-4AF1-9730-863E5DF9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16573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5CAD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B88800-849D-4601-AC93-D5881905E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971675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API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EC0592-1535-4D27-810E-B21B3972C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314575"/>
            <a:ext cx="13144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Route Handlers</a:t>
            </a:r>
          </a:p>
          <a:p xmlns:a="http://schemas.openxmlformats.org/drawingml/2006/main">
            <a:pPr algn="l">
              <a:def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Zod · auth guards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9674D4-B96A-4D26-9C7D-DC429EF0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809750"/>
            <a:ext cx="16573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5CAD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CDCE63-2B5D-4A2E-B246-8DF5FA7A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971675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DOMAIN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3F56FB-419C-413C-9AF5-36BB3F48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314575"/>
            <a:ext cx="13144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Dashboard · Map</a:t>
            </a:r>
          </a:p>
          <a:p xmlns:a="http://schemas.openxmlformats.org/drawingml/2006/main">
            <a:pPr algn="l">
              <a:def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CCTV · IoT · Ops · AI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4E7DCF-6485-4589-B69E-EAC869E2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809750"/>
            <a:ext cx="16573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1C77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A43BCC-EACB-4714-A40D-D74CBAF7B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1971675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DATA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7EE7FF-FAA5-468A-82C0-F37822F2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314575"/>
            <a:ext cx="13144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Prisma 7</a:t>
            </a:r>
          </a:p>
          <a:p xmlns:a="http://schemas.openxmlformats.org/drawingml/2006/main">
            <a:pPr algn="l">
              <a:def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MariaDB / MySQL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34B530-E38F-4CFA-9E13-A71129DD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AD2"/>
          </a:solidFill>
          <a:ln xmlns:a="http://schemas.openxmlformats.org/drawingml/2006/main" w="0">
            <a:solidFill>
              <a:srgbClr val="C5CAD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9A15D7-CB53-4FB5-ABC4-384B65D6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2100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rPr>
              <a:t>PROVIDER BOUNDARY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7ACFBC-12F0-48D3-B260-D35691F5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5053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AI provider ภายนอกยังไม่ถูกเรียกใช้ใน Phase 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B09EB3-AB37-4AC3-B2D6-5AA298100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933950"/>
            <a:ext cx="733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จุดเชื่อมต่อถูกเตรียมไว้หลัง Context Engine เพื่อเปลี่ยน provider ได้โดยไม่ย้าย permission boundary หรือ source contract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C8279B-072A-4B3A-9B42-92278B889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276725"/>
            <a:ext cx="2714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4FC2FD-BF72-41E0-BD55-AD5CD34F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495800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rPr>
              <a:t>CONTEXT ENGINE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19B7226-C182-48F6-8111-3331F5934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791075"/>
            <a:ext cx="2238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deterministic</a:t>
            </a:r>
          </a:p>
          <a:p xmlns:a="http://schemas.openxmlformats.org/drawingml/2006/main">
            <a:pPr algn="l">
              <a:defRPr sz="1575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source-aware response</a:t>
            </a:r>
          </a:p>
        </p:txBody>
      </p:sp>
    </p:spTree>
    <p:extLst>
      <p:ext uri="{BB962C8B-B14F-4D97-AF65-F5344CB8AC3E}">
        <p14:creationId xmlns:p14="http://schemas.microsoft.com/office/powerpoint/2010/main" val="13618808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32CDBF-ACBE-4B85-8AFC-311E795A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571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rPr>
              <a:t>DIGITAL TWIN · 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961DF7-CEDD-44EA-9EB5-BA9E43A6B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24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2625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สิทธิ์ถูกใช้เป็นเงื่อนไขของทุกการอ่าน การเขียน และ AI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96EF5E-8790-41D2-95EE-11BE72B1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3825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AD2"/>
          </a:solidFill>
          <a:ln xmlns:a="http://schemas.openxmlformats.org/drawingml/2006/main" w="0">
            <a:solidFill>
              <a:srgbClr val="C5CAD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570832-FC73-479E-94D6-5505C1E5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Sing Buri Intelligent City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588BB1-E8D5-4766-9A1B-86B190DFF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67450"/>
            <a:ext cx="542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0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A88DB5-56ED-4E5B-92A6-9328397F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76375"/>
            <a:ext cx="895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Security ไม่ได้อยู่แค่หน้า login แต่ถูกบังคับใช้ซ้ำที่ page, API, service และ context assembly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788D41-775C-4B42-BD58-D3190E0FC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24100"/>
            <a:ext cx="3143250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5CAD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BB5FDB-060B-44B0-8340-B8860A61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543175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56A60A-2F27-4099-9A9E-C926CD7E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0670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IDENTITY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F608DB-D7D8-44C8-A2D8-C0027513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495675"/>
            <a:ext cx="266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HttpOnly cookies</a:t>
            </a:r>
          </a:p>
          <a:p xmlns:a="http://schemas.openxmlformats.org/drawingml/2006/main">
            <a:pPr algn="l">
              <a:defRPr sz="1350" b="0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access / refresh rotation</a:t>
            </a:r>
          </a:p>
          <a:p xmlns:a="http://schemas.openxmlformats.org/drawingml/2006/main">
            <a:pPr algn="l">
              <a:defRPr sz="1350" b="0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session revocation · lockout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019218-7266-40E4-A22A-99BCD40D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324100"/>
            <a:ext cx="3143250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1C77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C72E9C-EF1F-408A-8615-32F8FB80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543175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F4C81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 i="0">
                <a:solidFill>
                  <a:srgbClr val="0F4C81"/>
                </a:solidFill>
                <a:latin typeface="Noto Sans Thai"/>
                <a:ea typeface="Noto Sans Thai"/>
                <a:cs typeface="Noto Sans Tha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8AE696-10F1-4D08-BA9C-F6F96F14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0670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AUTHORIZATION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627458-ECD9-470C-8D22-8435364E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495675"/>
            <a:ext cx="266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RBAC + permission codes</a:t>
            </a:r>
          </a:p>
          <a:p xmlns:a="http://schemas.openxmlformats.org/drawingml/2006/main">
            <a:pPr algn="l">
              <a:defRPr sz="1350" b="0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module read / manage</a:t>
            </a:r>
          </a:p>
          <a:p xmlns:a="http://schemas.openxmlformats.org/drawingml/2006/main">
            <a:pPr algn="l">
              <a:defRPr sz="1350" b="0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ai.read · ai.use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1012DC-CE7B-4437-863F-92B08ACD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324100"/>
            <a:ext cx="3143250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5CA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52CF16-88FA-491F-9B5B-BEE7B5A19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543175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325082-2875-4E64-AA3E-10EBFF24B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0670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TRACEABILITY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2E22CD-DDC4-405B-B775-0E51B1FE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495675"/>
            <a:ext cx="266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audit log สำหรับ sensitive action</a:t>
            </a:r>
          </a:p>
          <a:p xmlns:a="http://schemas.openxmlformats.org/drawingml/2006/main">
            <a:pPr algn="l">
              <a:defRPr sz="1350" b="0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source citation ใน AI message</a:t>
            </a:r>
          </a:p>
          <a:p xmlns:a="http://schemas.openxmlformats.org/drawingml/2006/main">
            <a:pPr algn="l">
              <a:defRPr sz="1350" b="0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user-owned conversations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0F5A55-ECA7-4063-A586-918F4061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48640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AD2"/>
          </a:solidFill>
          <a:ln xmlns:a="http://schemas.openxmlformats.org/drawingml/2006/main" w="0">
            <a:solidFill>
              <a:srgbClr val="C5CAD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5FBAB5-5A0C-44C3-8814-166C1186B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753100"/>
            <a:ext cx="2476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rPr>
              <a:t>AI CONTEXT SNAPSHOT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1C7EA9-80B9-476C-8AD4-9955EDDD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686425"/>
            <a:ext cx="628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แสดงเฉพาะโมดูลที่บัญชีปัจจุบันมีสิทธิ์อ่านได้</a:t>
            </a:r>
          </a:p>
        </p:txBody>
      </p:sp>
    </p:spTree>
    <p:extLst>
      <p:ext uri="{BB962C8B-B14F-4D97-AF65-F5344CB8AC3E}">
        <p14:creationId xmlns:p14="http://schemas.microsoft.com/office/powerpoint/2010/main" val="11170009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A5ABFA-B904-4C5F-815F-764114C24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571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rPr>
              <a:t>DIGITAL TWIN · 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4E150F-8405-43AD-9596-432A0FD08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24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2625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การปฏิบัติการเดินจากสัญญาณไปสู่งานที่มีเจ้าของ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DADEC2-793A-45CB-8A7D-66F1C2340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3825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AD2"/>
          </a:solidFill>
          <a:ln xmlns:a="http://schemas.openxmlformats.org/drawingml/2006/main" w="0">
            <a:solidFill>
              <a:srgbClr val="C5CAD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69ED47-9C63-42B6-AB0B-0405BE55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Sing Buri Intelligent City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30EFE8-8B0E-4AC7-B25C-B4D1D1541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67450"/>
            <a:ext cx="542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0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AAAC92-56E6-43A7-A26B-6A549171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76375"/>
            <a:ext cx="981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CCTV และ IoT สร้าง evidence; Alert Center จัดลำดับความรุนแรง; Incident workflow พางานไปจนจบ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C50308-D09D-4B42-B5F1-44A3503F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828925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7C3"/>
          </a:solidFill>
          <a:ln xmlns:a="http://schemas.openxmlformats.org/drawingml/2006/main" w="0">
            <a:solidFill>
              <a:srgbClr val="1C77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4FA63D-7040-469B-A662-A9B0CBCD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47950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494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95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DE4D8D-E687-4135-AE8F-BEA12245E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828925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7C3"/>
          </a:solidFill>
          <a:ln xmlns:a="http://schemas.openxmlformats.org/drawingml/2006/main" w="0">
            <a:solidFill>
              <a:srgbClr val="1C77C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5875D9-AABC-44FC-851F-7D9A3B341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647950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494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95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75A86B-36E2-4278-856F-4A9F9D9D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828925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7C3"/>
          </a:solidFill>
          <a:ln xmlns:a="http://schemas.openxmlformats.org/drawingml/2006/main" w="0">
            <a:solidFill>
              <a:srgbClr val="1C77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62D1D4-40AC-41C3-85B4-2F74A09D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647950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494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95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4D2E2A-F092-423D-9AE3-6E161814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276475"/>
            <a:ext cx="21717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5CA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E86F0C-5DF7-4868-B74D-8EE97B1F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438400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SIGNALS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CF5728-A84C-4F10-ABAC-90B97ADC1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781300"/>
            <a:ext cx="18288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CCTV events</a:t>
            </a:r>
          </a:p>
          <a:p xmlns:a="http://schemas.openxmlformats.org/drawingml/2006/main">
            <a:pPr algn="l">
              <a:def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IoT readings</a:t>
            </a:r>
          </a:p>
          <a:p xmlns:a="http://schemas.openxmlformats.org/drawingml/2006/main">
            <a:pPr algn="l">
              <a:def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threshold rules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1EC0ED-F453-4536-9493-064FABCE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276475"/>
            <a:ext cx="229552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1C77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BBABBB-F280-424A-B3B6-D2E3C8718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4384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ALERT CENTER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EEA579-FDBD-4964-BD81-4B0869049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781300"/>
            <a:ext cx="19526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severity · status</a:t>
            </a:r>
          </a:p>
          <a:p xmlns:a="http://schemas.openxmlformats.org/drawingml/2006/main">
            <a:pPr algn="l">
              <a:def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source · district</a:t>
            </a:r>
          </a:p>
          <a:p xmlns:a="http://schemas.openxmlformats.org/drawingml/2006/main">
            <a:pPr algn="l">
              <a:def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history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7C6501-65A5-45D4-B132-62376B46E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276475"/>
            <a:ext cx="216217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5CAD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570D1D-498B-43E9-90CE-8081A88BE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38400"/>
            <a:ext cx="1819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INCIDENT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B258CE-153A-463A-9D08-A345DFDFA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81300"/>
            <a:ext cx="181927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owner · due date</a:t>
            </a:r>
          </a:p>
          <a:p xmlns:a="http://schemas.openxmlformats.org/drawingml/2006/main">
            <a:pPr algn="l">
              <a:def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linked sources</a:t>
            </a:r>
          </a:p>
          <a:p xmlns:a="http://schemas.openxmlformats.org/drawingml/2006/main">
            <a:pPr algn="l">
              <a:def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status history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B7E363-75F7-45FC-A5A5-F09FD89A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276475"/>
            <a:ext cx="14668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5CAD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DA6527-F768-4EE9-B949-9BDC962F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243840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AUDIT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27B7C7-281B-4F6A-97C6-1314475F6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2781300"/>
            <a:ext cx="11239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who</a:t>
            </a:r>
          </a:p>
          <a:p xmlns:a="http://schemas.openxmlformats.org/drawingml/2006/main">
            <a:pPr algn="l">
              <a:def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what</a:t>
            </a:r>
          </a:p>
          <a:p xmlns:a="http://schemas.openxmlformats.org/drawingml/2006/main">
            <a:pPr algn="l">
              <a:def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when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E76C1A-E691-48F8-8CAF-76EE0AFE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4672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rPr>
              <a:t>DEMO DATASET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E2F3E8-97F8-4B07-A1BE-FCAC5F148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72025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270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25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797E93-3D90-4818-B8C4-BF171742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2387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alerts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0D9F06-75E4-4E2E-9F8E-FAD1D1A3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772025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B54747"/>
                </a:solidFill>
                <a:latin typeface="Noto Sans Thai"/>
                <a:ea typeface="Noto Sans Thai"/>
                <a:cs typeface="Noto Sans Thai"/>
              </a:defRPr>
            </a:pPr>
            <a:r>
              <a:rPr sz="2700" b="1" i="0">
                <a:solidFill>
                  <a:srgbClr val="B54747"/>
                </a:solidFill>
                <a:latin typeface="Noto Sans Thai"/>
                <a:ea typeface="Noto Sans Thai"/>
                <a:cs typeface="Noto Sans Thai"/>
              </a:rPr>
              <a:t>19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1AAB56-3D87-4307-A64B-D5B539E5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52387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open alerts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090292-0B22-417B-8193-18497D69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772025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270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12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0F19F3-AFC3-477D-94AC-4728F728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238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incidents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426F14-69E2-4CF7-948E-C64658910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772025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B7791F"/>
                </a:solidFill>
                <a:latin typeface="Noto Sans Thai"/>
                <a:ea typeface="Noto Sans Thai"/>
                <a:cs typeface="Noto Sans Thai"/>
              </a:defRPr>
            </a:pPr>
            <a:r>
              <a:rPr sz="2700" b="1" i="0">
                <a:solidFill>
                  <a:srgbClr val="B7791F"/>
                </a:solidFill>
                <a:latin typeface="Noto Sans Thai"/>
                <a:ea typeface="Noto Sans Thai"/>
                <a:cs typeface="Noto Sans Thai"/>
              </a:rPr>
              <a:t>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76DCF9-7DFD-48C1-A63C-6EFE1ED9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2387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open incidents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711528A-1530-43C1-B8CE-B4248D7AE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72025"/>
            <a:ext cx="32289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ข้อมูลสาธิตมี status transition, history และ source linkage สำหรับทดสอบ workflow</a:t>
            </a:r>
          </a:p>
        </p:txBody>
      </p:sp>
    </p:spTree>
    <p:extLst>
      <p:ext uri="{BB962C8B-B14F-4D97-AF65-F5344CB8AC3E}">
        <p14:creationId xmlns:p14="http://schemas.microsoft.com/office/powerpoint/2010/main" val="8622150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519966C-3FE4-4FBC-A03F-A67AF52E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571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rPr>
              <a:t>DIGITAL TWIN · 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000C6B-A19B-4010-A00A-6538553C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24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2625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หน้าจอหลักครอบคลุมทั้งภาพรวมและการเจาะลงรายละเอียด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2A6A3C-3A8E-45E9-B900-07B2D8A4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3825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AD2"/>
          </a:solidFill>
          <a:ln xmlns:a="http://schemas.openxmlformats.org/drawingml/2006/main" w="0">
            <a:solidFill>
              <a:srgbClr val="C5CAD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353A41-65AE-485F-A762-63E0B77C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Sing Buri Intelligent City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8614AC-0DB3-42E8-B448-6ABBF3F8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67450"/>
            <a:ext cx="542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0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1E164C-01C7-4929-BE15-E1FDE055A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76375"/>
            <a:ext cx="885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จากจังหวัด → พื้นที่ → อุปกรณ์ → เหตุการณ์ แต่ละหน้าจอใช้ data contract เดียวกัน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04A188-6954-4AF2-B203-6D32399CA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181225"/>
            <a:ext cx="54292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5CAD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BAAFDE-DFD5-4F9D-B882-B76A5C60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rPr>
              <a:t>DASHBOARD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F1ED52-1FE9-4BBB-912B-99140850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336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ภาพรวมจังหวัด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DF545B-41CD-46BF-B320-DDAD6D79B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71825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น้ำ 12.45 ม. · PM2.5 18 µg/m³</a:t>
            </a:r>
          </a:p>
          <a:p xmlns:a="http://schemas.openxmlformats.org/drawingml/2006/main">
            <a:pPr algn="l">
              <a:defRPr sz="135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ฝน 12.6 มม. · รถ 48 กม./ชม.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9106C8-5909-4B4B-933F-D7FFDD680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09850"/>
            <a:ext cx="8858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CB3D15-7A8B-4012-8D87-A7DDDDDC1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74320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F4C81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 i="0">
                <a:solidFill>
                  <a:srgbClr val="0F4C81"/>
                </a:solidFill>
                <a:latin typeface="Noto Sans Thai"/>
                <a:ea typeface="Noto Sans Thai"/>
                <a:cs typeface="Noto Sans Thai"/>
              </a:rPr>
              <a:t>6 จุด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5EB8B0-8495-40DE-A059-FD9D71D60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13372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water trend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A20ED4-770A-4B7D-B38F-B0763A2A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95675"/>
            <a:ext cx="666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BE463F-0A12-41B2-A48A-B3ABA8F6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429000"/>
            <a:ext cx="666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5027F0-F66F-45F0-981E-C233AE11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362325"/>
            <a:ext cx="66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033C10-3463-4A1C-AD34-91719864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295650"/>
            <a:ext cx="666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F7025D-22F5-474C-9523-DCD1F5393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228975"/>
            <a:ext cx="666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F9BC5E-1F23-4AFC-8B12-061A90D97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162300"/>
            <a:ext cx="666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7C3"/>
          </a:solidFill>
          <a:ln xmlns:a="http://schemas.openxmlformats.org/drawingml/2006/main" w="0">
            <a:solidFill>
              <a:srgbClr val="1C77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BCE26D-D3F8-4549-B8BC-4A404BA7B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181225"/>
            <a:ext cx="54292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C5CA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734F6D-B56A-4D1E-9D83-D67E617B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003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rPr>
              <a:t>MAP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F3386D-39EF-4980-8EF9-9DF5C04D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3367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พื้นที่เป็นเลเยอร์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FB2C3F-FE19-45E0-B805-56550A50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71825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49 areas · 10 locations</a:t>
            </a:r>
          </a:p>
          <a:p xmlns:a="http://schemas.openxmlformats.org/drawingml/2006/main">
            <a:pPr algn="l">
              <a:defRPr sz="135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CCTV overlay ตามสิทธิ์ผู้ใช้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BE1224-C38A-425B-A064-526742500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5336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C77C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EF76FF-CC05-47F0-8C52-14044245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28289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1C77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420034-A623-4813-AE51-62C5A53D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105275"/>
            <a:ext cx="54292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C5CAD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6A74BD-8F41-4880-AF62-29EF14C58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24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rPr>
              <a:t>CCTV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E11E84-9B17-4BCE-9CBC-75CEFB2A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577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20 กล้องสาธิต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6C7A10-F862-4E21-B4A8-674DF53E7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958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15 online · 3 offline</a:t>
            </a:r>
          </a:p>
          <a:p xmlns:a="http://schemas.openxmlformats.org/drawingml/2006/main">
            <a:pPr algn="l">
              <a:defRPr sz="135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1 maintenance · 1 degraded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F7B992-C360-4C27-8E30-D7AB05B62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619625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FC741B-4976-4B03-BB39-2632FFA5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619625"/>
            <a:ext cx="1000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7C3"/>
          </a:solidFill>
          <a:ln xmlns:a="http://schemas.openxmlformats.org/drawingml/2006/main" w="0">
            <a:solidFill>
              <a:srgbClr val="1C77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FD0A6C-26F5-4901-B03C-72F4BB68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886325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F4C8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 i="0">
                <a:solidFill>
                  <a:srgbClr val="0F4C81"/>
                </a:solidFill>
                <a:latin typeface="Noto Sans Thai"/>
                <a:ea typeface="Noto Sans Thai"/>
                <a:cs typeface="Noto Sans Thai"/>
              </a:rPr>
              <a:t>75% online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944215-BE51-451D-9491-09BC7224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105275"/>
            <a:ext cx="54292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5CAD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8C6A5F-B38B-44DF-A9FF-2DDCB4B8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324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rPr>
              <a:t>IoT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A31594F-01D8-4930-9E90-C85B312F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5772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40 devices สาธิต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9A98398-BEB5-4447-BEBC-7FF4E10F0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095875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latest telemetry · trends</a:t>
            </a:r>
          </a:p>
          <a:p xmlns:a="http://schemas.openxmlformats.org/drawingml/2006/main">
            <a:pPr algn="l">
              <a:defRPr sz="135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battery · heartbeat · idempotent ingest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B7985A3-C52F-4652-9C40-AC574230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95312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รายละเอียด drill-down อยู่ในหน้า module เดียวกันกับ API ของ module</a:t>
            </a:r>
          </a:p>
        </p:txBody>
      </p:sp>
    </p:spTree>
    <p:extLst>
      <p:ext uri="{BB962C8B-B14F-4D97-AF65-F5344CB8AC3E}">
        <p14:creationId xmlns:p14="http://schemas.microsoft.com/office/powerpoint/2010/main" val="3932969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DE53C9-2959-4411-BD78-38B9111A2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571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rPr>
              <a:t>DIGITAL TWIN · 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695162-3EAF-445D-87A1-A72F9FC15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24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2625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Alert Center และ Incident workflow ทำให้สถานการณ์ตามต่อได้จนจบ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4CA6F4-A18A-4C2D-A567-88750AE7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3825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AD2"/>
          </a:solidFill>
          <a:ln xmlns:a="http://schemas.openxmlformats.org/drawingml/2006/main" w="0">
            <a:solidFill>
              <a:srgbClr val="C5CAD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F2486F-590F-4EE5-A2FC-A8E668497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Sing Buri Intelligent City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70F784-4DA2-4F23-9CA9-2AD7085E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67450"/>
            <a:ext cx="542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0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6C70AC-8AA9-4CBF-AFF1-52AC52801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76375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สถานะ, ความรุนแรง, source และ due date ทำให้ทุกเคสมี next action ที่อธิบายได้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455A61-F5A8-4B92-A4CA-019BBF73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7241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7C3"/>
          </a:solidFill>
          <a:ln xmlns:a="http://schemas.openxmlformats.org/drawingml/2006/main" w="0">
            <a:solidFill>
              <a:srgbClr val="1C77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6FD499-6236-44B1-BA1C-66B738AF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43175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494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95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42D3DE-37CD-4BDB-8851-4D71C96E3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7241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7C3"/>
          </a:solidFill>
          <a:ln xmlns:a="http://schemas.openxmlformats.org/drawingml/2006/main" w="0">
            <a:solidFill>
              <a:srgbClr val="1C77C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ACCCDC-6E54-4BA3-A331-EC17E1D5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543175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494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95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223A62-BFFA-4E3B-8296-65EA881F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7241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7C3"/>
          </a:solidFill>
          <a:ln xmlns:a="http://schemas.openxmlformats.org/drawingml/2006/main" w="0">
            <a:solidFill>
              <a:srgbClr val="1C77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D1E892-96E4-4574-93EB-843D48CB9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43175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494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95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F63537-CAFA-4A3E-8095-00F7D68E9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114550"/>
            <a:ext cx="21526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5CA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98BEBA-9D0C-4001-8EC1-3D88613D2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2764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NEW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D44177-D681-42B6-82D9-747FB8C1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619375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รับสัญญาณ</a:t>
            </a:r>
          </a:p>
          <a:p xmlns:a="http://schemas.openxmlformats.org/drawingml/2006/main">
            <a:pPr algn="l">
              <a:def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รายการใหม่</a:t>
            </a:r>
          </a:p>
          <a:p xmlns:a="http://schemas.openxmlformats.org/drawingml/2006/main">
            <a:pPr algn="l">
              <a:def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รอ triage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9955CB-6AAE-416B-ADB7-01AB030EE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114550"/>
            <a:ext cx="21526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5CA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0AD0FF-BA1B-4EEF-A1BB-653034B45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2764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ACKNOWLEDGED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BAE14D-C8A3-4185-ADA7-EBBB1365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619375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รับทราบ</a:t>
            </a:r>
          </a:p>
          <a:p xmlns:a="http://schemas.openxmlformats.org/drawingml/2006/main">
            <a:pPr algn="l">
              <a:def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ยืนยันผู้ดูแล</a:t>
            </a:r>
          </a:p>
          <a:p xmlns:a="http://schemas.openxmlformats.org/drawingml/2006/main">
            <a:pPr algn="l">
              <a:def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เริ่มติดตาม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873B3F-60D8-418A-9C81-460112CF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114550"/>
            <a:ext cx="21526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1C77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8A5F75-EF83-4801-8373-D1C14CD42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2764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IN PROGRESS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3CC6F9-A45F-4777-BF73-FA347ACDC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619375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กำลังแก้ไข</a:t>
            </a:r>
          </a:p>
          <a:p xmlns:a="http://schemas.openxmlformats.org/drawingml/2006/main">
            <a:pPr algn="l">
              <a:def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เชื่อม incident</a:t>
            </a:r>
          </a:p>
          <a:p xmlns:a="http://schemas.openxmlformats.org/drawingml/2006/main">
            <a:pPr algn="l">
              <a:def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มี owner / due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70EF83-E8F5-41F1-A0BB-C76D1102A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114550"/>
            <a:ext cx="21526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5CAD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5CDFDA-EB28-4F3C-9133-2C0B1300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2764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RESOLVED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1CA1C9-B8F7-4A63-A9A6-A83C911FF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619375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ปิดงาน</a:t>
            </a:r>
          </a:p>
          <a:p xmlns:a="http://schemas.openxmlformats.org/drawingml/2006/main">
            <a:pPr algn="l">
              <a:def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เก็บ history</a:t>
            </a:r>
          </a:p>
          <a:p xmlns:a="http://schemas.openxmlformats.org/drawingml/2006/main">
            <a:pPr algn="l">
              <a:def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ตรวจสอบย้อนหลัง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A7C4FE-F111-47B7-A325-57565A85B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48125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AD2"/>
          </a:solidFill>
          <a:ln xmlns:a="http://schemas.openxmlformats.org/drawingml/2006/main" w="0">
            <a:solidFill>
              <a:srgbClr val="C5CAD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AF21BB-2C92-4357-AB15-376B9B058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243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rPr>
              <a:t>ALERT CENTER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9B4A91-FA39-4D16-919D-BEAAC4BBD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3867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ค้นหา / กรอง / ดู history / เปลี่ยนสถานะ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1D591C-1216-417C-8E9A-A063155E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095875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Status · severity · source · district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BC0943-D8E2-4D26-80D0-91B894D89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243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rPr>
              <a:t>INCIDENT WORKFLOW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9BBE04-CAF2-4A0F-A7B7-247B65C3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3867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สร้างจากศูนย์ปฏิบัติการและเชื่อม source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8ADE40-C056-4251-A98A-42EEA208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095875"/>
            <a:ext cx="504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Alert · CCTV · IoT · category · due date · status history</a:t>
            </a:r>
          </a:p>
        </p:txBody>
      </p:sp>
    </p:spTree>
    <p:extLst>
      <p:ext uri="{BB962C8B-B14F-4D97-AF65-F5344CB8AC3E}">
        <p14:creationId xmlns:p14="http://schemas.microsoft.com/office/powerpoint/2010/main" val="20988941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714945-077E-4CC2-8557-B7C2C5374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571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rPr>
              <a:t>DIGITAL TWIN · 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03C4D2-79C8-402E-8A45-A175960B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24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2625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AI Copilot ใช้ context snapshot เป็นฐาน และแนบแหล่งอ้างอิงทุกคำตอบ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6BBE4E-62E7-4F19-A889-68F13513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3825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AD2"/>
          </a:solidFill>
          <a:ln xmlns:a="http://schemas.openxmlformats.org/drawingml/2006/main" w="0">
            <a:solidFill>
              <a:srgbClr val="C5CAD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EA5B97-B1A4-4316-A3FC-BF7C98B10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Sing Buri Intelligent City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A72A54-DF3B-4B13-9E85-9939D6F0F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67450"/>
            <a:ext cx="542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0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50F5AA-12BF-4B66-BCE3-4CD20FBD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76375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Phase 6 เริ่มจาก deterministic runtime เพื่อให้ permission, source และ audit ตรวจสอบได้ก่อนเชื่อม provider ภายนอก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F2A92F-A16A-40DB-8A13-B20359CE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952750"/>
            <a:ext cx="942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7C3"/>
          </a:solidFill>
          <a:ln xmlns:a="http://schemas.openxmlformats.org/drawingml/2006/main" w="0">
            <a:solidFill>
              <a:srgbClr val="1C77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45C8D2-69EE-45C4-9933-232963C4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771775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494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95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03C8E6-F752-4DDE-9633-CA6CBFD7C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952750"/>
            <a:ext cx="942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7C3"/>
          </a:solidFill>
          <a:ln xmlns:a="http://schemas.openxmlformats.org/drawingml/2006/main" w="0">
            <a:solidFill>
              <a:srgbClr val="1C77C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F7E8E6-D56E-4631-B324-4C90FFCF6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71775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494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95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84ACE9-7CEE-401C-B126-65CAD3F81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52750"/>
            <a:ext cx="942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7C3"/>
          </a:solidFill>
          <a:ln xmlns:a="http://schemas.openxmlformats.org/drawingml/2006/main" w="0">
            <a:solidFill>
              <a:srgbClr val="1C77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3CA4EC-C2D3-4154-80A4-665705F75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71775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494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95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045188-1B0E-4C30-AB13-C2E78519A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24100"/>
            <a:ext cx="22002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5CA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489716-6FC4-4ED1-A0A7-72532D47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486025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QUESTION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5225A3-32D8-49FF-903F-DC72D3DD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828925"/>
            <a:ext cx="1857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ภาษาธรรมชาติ</a:t>
            </a:r>
          </a:p>
          <a:p xmlns:a="http://schemas.openxmlformats.org/drawingml/2006/main">
            <a:pPr algn="l">
              <a:def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เช่น Critical alert?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C46B91-D66F-48B5-8B09-DC9661BC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324100"/>
            <a:ext cx="16859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1C77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DB779A-D91F-4CB8-8911-97AEBBC8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486025"/>
            <a:ext cx="1343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CONTEXT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E5B845-BDD2-4E4F-8D3E-9BC56E680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828925"/>
            <a:ext cx="13430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dashboard</a:t>
            </a:r>
          </a:p>
          <a:p xmlns:a="http://schemas.openxmlformats.org/drawingml/2006/main">
            <a:pPr algn="l">
              <a:def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alerts · ops</a:t>
            </a:r>
          </a:p>
          <a:p xmlns:a="http://schemas.openxmlformats.org/drawingml/2006/main">
            <a:pPr algn="l">
              <a:def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CCTV · IoT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13EB47-0CF6-4992-AA97-033A89C23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324100"/>
            <a:ext cx="16859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5CAD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400A49-10D6-4F9A-82D2-7D769286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486025"/>
            <a:ext cx="1343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ENGINE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3E1614-378C-449F-8A79-201FE53F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828925"/>
            <a:ext cx="13430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intent</a:t>
            </a:r>
          </a:p>
          <a:p xmlns:a="http://schemas.openxmlformats.org/drawingml/2006/main">
            <a:pPr algn="l">
              <a:def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confidence</a:t>
            </a:r>
          </a:p>
          <a:p xmlns:a="http://schemas.openxmlformats.org/drawingml/2006/main">
            <a:pPr algn="l">
              <a:def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cited modules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EC4371-DF42-405B-B79E-23AEE77DF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324100"/>
            <a:ext cx="2552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5CAD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DA86F1-44D0-49F0-9585-EFD613246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486025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RESPONSE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E29DDD-3750-4E86-8B82-DAE3FBD6A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828925"/>
            <a:ext cx="2209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คำตอบ + related URL</a:t>
            </a:r>
          </a:p>
          <a:p xmlns:a="http://schemas.openxmlformats.org/drawingml/2006/main">
            <a:pPr algn="l">
              <a:def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source citation</a:t>
            </a:r>
          </a:p>
          <a:p xmlns:a="http://schemas.openxmlformats.org/drawingml/2006/main">
            <a:pPr algn="l">
              <a:def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audit log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F52AA3-FB57-4F94-A344-AB8CB2E0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295775"/>
            <a:ext cx="11410950" cy="1419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C5CAD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5F2294-9D56-4927-ABFC-C80459A89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24375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rPr>
              <a:t>ตัวอย่างที่ตรวจสอบต่อได้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4B3E24-A4EC-4119-AAB3-C9F2D29B2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768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มี Alert ระดับ Critical กี่รายการ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213DB9-5DD0-4D1C-9854-44148937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8768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ขณะนี้พบ Alert ระดับวิกฤตที่ยังเปิดอยู่ 2 รายการ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399F5E-B4FA-48E7-A681-FD940B1DB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2673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rPr>
              <a:t>↳ Alert Center · Critical alerts   /alerts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8C7216-C5DD-47BB-B247-C9A71B14E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7217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Provider: Context Engine · external AI API ยังไม่ถูกเรียกใช้</a:t>
            </a:r>
          </a:p>
        </p:txBody>
      </p:sp>
    </p:spTree>
    <p:extLst>
      <p:ext uri="{BB962C8B-B14F-4D97-AF65-F5344CB8AC3E}">
        <p14:creationId xmlns:p14="http://schemas.microsoft.com/office/powerpoint/2010/main" val="592617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DD1E0A-59BB-44C1-8A56-EECA6760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571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rPr>
              <a:t>DIGITAL TWIN · 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A6190E-BF70-4B83-8DDF-430A9FEF2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24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2625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ระบบเปิดด้วย API ที่เป็น versioned, validated และ permission-aware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73BF04-A686-40AF-8D53-7895E6A7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3825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AD2"/>
          </a:solidFill>
          <a:ln xmlns:a="http://schemas.openxmlformats.org/drawingml/2006/main" w="0">
            <a:solidFill>
              <a:srgbClr val="C5CAD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F186B6-3E7F-476C-BE39-A8CD02AED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Sing Buri Intelligent City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E339C2-59F6-4BB5-A6D5-10522A9D6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67450"/>
            <a:ext cx="542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0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960DB7-CA03-46CB-A4AF-CEAB9E783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76375"/>
            <a:ext cx="866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ทุก endpoint ใช้ response contract เดียวกัน: success / data / message / meta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390525" y="2190750"/>
          <a:ext xmlns:a="http://schemas.openxmlformats.org/drawingml/2006/main" cx="11410950" cy="33147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381250"/>
                <a:gridCol w="4457700"/>
                <a:gridCol w="4572000"/>
              </a:tblGrid>
              <a:tr h="5524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DOMAIN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API SURFACE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PURPOSE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B1220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Authentication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B6574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/api/v1/auth/*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B6574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login · refresh · logout · current session</a:t>
                      </a:r>
                    </a:p>
                  </a:txBody>
                  <a:tcPr marL="91440" marR="91440" marT="45720" marB="45720"/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B1220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Operational data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B6574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/dashboard/summary · /map · /cctv · /iot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B6574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ภาพรวมพื้นที่, กล้อง, อุปกรณ์ และ readings</a:t>
                      </a:r>
                    </a:p>
                  </a:txBody>
                  <a:tcPr marL="91440" marR="91440" marT="45720" marB="45720"/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B1220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Operations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B6574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/alerts · /incidents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B6574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filter, detail, status transition, history</a:t>
                      </a:r>
                    </a:p>
                  </a:txBody>
                  <a:tcPr marL="91440" marR="91440" marT="45720" marB="45720"/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B1220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AI Copilot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B6574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/ai · /ai/conversations · /ai/.../messages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B6574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workspace, conversation, query, source citation</a:t>
                      </a:r>
                    </a:p>
                  </a:txBody>
                  <a:tcPr marL="91440" marR="91440" marT="45720" marB="45720"/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B1220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Administration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B6574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/users · /roles · /agencies · /areas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B6574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RBAC และ master data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C03F02-04A3-4504-A67A-1826CFC9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7531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rPr>
              <a:t>Zod validation · server-side guards · audit hooks สำหรับ sensitive actions</a:t>
            </a:r>
          </a:p>
        </p:txBody>
      </p:sp>
    </p:spTree>
    <p:extLst>
      <p:ext uri="{BB962C8B-B14F-4D97-AF65-F5344CB8AC3E}">
        <p14:creationId xmlns:p14="http://schemas.microsoft.com/office/powerpoint/2010/main" val="129303947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69D1DF-B847-4D1F-8234-06D6EAA5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571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rPr>
              <a:t>DIGITAL TWIN · 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3E7E61-E22F-4728-BEC3-2CE2FE7BD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24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2625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คุณภาพของระบบถูกตรวจด้วย test, typecheck, lint และ production build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A60483-38C7-44D7-A55C-B04651748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3825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AD2"/>
          </a:solidFill>
          <a:ln xmlns:a="http://schemas.openxmlformats.org/drawingml/2006/main" w="0">
            <a:solidFill>
              <a:srgbClr val="C5CAD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3B364C-4011-4F5E-847B-35457634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Sing Buri Intelligent City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3C43FF-94C6-4FA9-AFB3-D25DAED83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67450"/>
            <a:ext cx="542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0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AFD5A6-F1F5-4FE4-BF97-81C611D4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76375"/>
            <a:ext cx="962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สถานะปัจจุบันเหมาะสำหรับ demo, integration testing และเตรียมเชื่อมข้อมูลจริงต่อ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C8C33C-0C89-4CCC-BB0D-AD973D36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257425"/>
            <a:ext cx="34290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5CAD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F59E58-5176-4F76-A615-551C1FC0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81275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F4C81"/>
                </a:solidFill>
                <a:latin typeface="Noto Sans Thai"/>
                <a:ea typeface="Noto Sans Thai"/>
                <a:cs typeface="Noto Sans Thai"/>
              </a:defRPr>
            </a:pPr>
            <a:r>
              <a:rPr sz="2700" b="1" i="0">
                <a:solidFill>
                  <a:srgbClr val="0F4C81"/>
                </a:solidFill>
                <a:latin typeface="Noto Sans Thai"/>
                <a:ea typeface="Noto Sans Thai"/>
                <a:cs typeface="Noto Sans Thai"/>
              </a:rPr>
              <a:t>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8F61B7-476E-44F0-B5C2-8C26B4BF4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48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test files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8F2EAC-6D06-4812-89CF-1A01DCBEF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571875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defRPr>
            </a:pPr>
            <a:r>
              <a:rPr sz="270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rPr>
              <a:t>25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A5DCC8-FEE0-4412-8598-6E204FF8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0386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passing tests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7597EA-81C1-4FEF-847D-F653172F2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467225"/>
            <a:ext cx="2686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test coverage ครอบคลุม Map, CCTV, IoT, Operations และ AI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C988D5-1E2F-4802-9883-90580135B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257425"/>
            <a:ext cx="74104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C5CA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3A778F-4390-4918-B53A-3E2887E7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38400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rPr>
              <a:t>TYPECHECK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BAB4BD-2C02-425D-A38E-885EC4B7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42887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tsc --noEmit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21EFE6-36BF-428D-A79F-9E3BAF24B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428875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2D8A6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1" i="0">
                <a:solidFill>
                  <a:srgbClr val="2D8A62"/>
                </a:solidFill>
                <a:latin typeface="Noto Sans Thai"/>
                <a:ea typeface="Noto Sans Thai"/>
                <a:cs typeface="Noto Sans Thai"/>
              </a:rPr>
              <a:t>PASS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035149-79FC-471B-86E6-70038D9BE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028950"/>
            <a:ext cx="74104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C5CA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C82E2F-6BB1-4F1C-8615-C614386F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09925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rPr>
              <a:t>LINT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35C343-2BB9-4AE1-A28C-BF531BEC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2004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eslint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062782-47DC-413A-AEB5-9777F8542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2004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2D8A6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1" i="0">
                <a:solidFill>
                  <a:srgbClr val="2D8A62"/>
                </a:solidFill>
                <a:latin typeface="Noto Sans Thai"/>
                <a:ea typeface="Noto Sans Thai"/>
                <a:cs typeface="Noto Sans Thai"/>
              </a:rPr>
              <a:t>PASS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73D7CB-4876-41C6-BB94-BB49FE06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800475"/>
            <a:ext cx="74104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C5CAD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CF225A-57BD-431C-8F46-AEC0B474A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981450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rPr>
              <a:t>TEST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A0BD82-E4DF-4685-836F-EF444BD55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9719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vitest run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A362D6-DAF5-4E79-A88B-D18445A66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971925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2D8A6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1" i="0">
                <a:solidFill>
                  <a:srgbClr val="2D8A62"/>
                </a:solidFill>
                <a:latin typeface="Noto Sans Thai"/>
                <a:ea typeface="Noto Sans Thai"/>
                <a:cs typeface="Noto Sans Thai"/>
              </a:rPr>
              <a:t>25 PASS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B3523B-CC19-47E7-BD1D-F4C550B8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572000"/>
            <a:ext cx="74104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C5CAD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0E3104-A113-49AC-B7D1-D3250E0A9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52975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rPr>
              <a:t>BUILD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6D15F0-A279-4060-954C-EF8090A0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7434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next build --webpack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224B21-79B0-4295-B36D-DC94111E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74345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2D8A6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1" i="0">
                <a:solidFill>
                  <a:srgbClr val="2D8A62"/>
                </a:solidFill>
                <a:latin typeface="Noto Sans Thai"/>
                <a:ea typeface="Noto Sans Thai"/>
                <a:cs typeface="Noto Sans Thai"/>
              </a:rPr>
              <a:t>PASS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FCA0A0-7259-4E5D-B63B-7329DE5D7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14975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AD2"/>
          </a:solidFill>
          <a:ln xmlns:a="http://schemas.openxmlformats.org/drawingml/2006/main" w="0">
            <a:solidFill>
              <a:srgbClr val="C5CAD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9A745E-4864-4805-A4B4-F8A29363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7912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rPr>
              <a:t>Demo seed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FCF163-B237-4136-90E1-D2DA5330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531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npm run db:seed:demo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FD5789-CDE0-404B-BBE7-D72BB01A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791200"/>
            <a:ext cx="466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fictional Sing Buri data · ไม่เรียก external AI API</a:t>
            </a:r>
          </a:p>
        </p:txBody>
      </p:sp>
    </p:spTree>
    <p:extLst>
      <p:ext uri="{BB962C8B-B14F-4D97-AF65-F5344CB8AC3E}">
        <p14:creationId xmlns:p14="http://schemas.microsoft.com/office/powerpoint/2010/main" val="123438745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99A449-F9A0-4904-AF11-FD8AFCD9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571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rPr>
              <a:t>DIGITAL TWIN · 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F9DD0D-FC69-40CA-98C7-4A14B181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24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2625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ก้าวต่อไปคือเชื่อมข้อมูลจริง โดยรักษา permission และ traceability เดิม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B72866-7507-4EBF-A1C8-3ED1B5AD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3825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AD2"/>
          </a:solidFill>
          <a:ln xmlns:a="http://schemas.openxmlformats.org/drawingml/2006/main" w="0">
            <a:solidFill>
              <a:srgbClr val="C5CAD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2C791E-B2A1-4A8A-B0ED-3B0FBF11F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Sing Buri Intelligent City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11281B-E000-4858-9FFC-C5660135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67450"/>
            <a:ext cx="542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0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73EC6A-E478-409E-8767-674C83203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76375"/>
            <a:ext cx="962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โครงสร้าง Phase 1—6 พร้อมรับการเชื่อมต่อจริง โดยไม่ต้องเปลี่ยนวิธีที่ผู้ใช้ตรวจสอบข้อมูล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DBBBAE-FA31-47A8-B01A-3A45C6DA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33625"/>
            <a:ext cx="31432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5CAD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B4B9E9-5126-4B53-9386-E96EEC6C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5717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96EDD6-2899-4DB0-B45B-7C9B734EC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0670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REAL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D0A3E5-8CA1-48D2-9F56-7D1E26F5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5433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เชื่อม CCTV / IoT / alert sources</a:t>
            </a:r>
          </a:p>
          <a:p xmlns:a="http://schemas.openxmlformats.org/drawingml/2006/main">
            <a:pPr algn="l">
              <a:defRPr sz="1275" b="0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กำหนด owner และ freshness ของข้อมูล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562E50-FE45-4913-B511-18E6DCFD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333625"/>
            <a:ext cx="31432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1C77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895B1A-D190-4A36-A55F-CAF94A7D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5717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F4C81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 i="0">
                <a:solidFill>
                  <a:srgbClr val="0F4C81"/>
                </a:solidFill>
                <a:latin typeface="Noto Sans Thai"/>
                <a:ea typeface="Noto Sans Thai"/>
                <a:cs typeface="Noto Sans Tha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52110C-3EDC-4CF9-8205-9EE385D51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0670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AI PROVIDER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63BB26-472B-4D14-B152-D96355739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5433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เพิ่ม provider abstraction</a:t>
            </a:r>
          </a:p>
          <a:p xmlns:a="http://schemas.openxmlformats.org/drawingml/2006/main">
            <a:pPr algn="l">
              <a:defRPr sz="1275" b="0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ประเมิน quality, cost และ latency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968436-DC60-47AF-8D64-21945C77C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333625"/>
            <a:ext cx="31432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5CA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D7A72A-F1FA-4512-9A8A-DE3103E6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5717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6133B3-89FA-41F5-A42D-788A470E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0670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SCALE OPS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21B94E-B569-47CD-8068-E6A24314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5433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shared rate limiter</a:t>
            </a:r>
          </a:p>
          <a:p xmlns:a="http://schemas.openxmlformats.org/drawingml/2006/main">
            <a:pPr algn="l">
              <a:defRPr sz="1275" b="0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media connector · reports roadmap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0704BE-FDB2-42E1-9035-3DE545A4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924425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AD2"/>
          </a:solidFill>
          <a:ln xmlns:a="http://schemas.openxmlformats.org/drawingml/2006/main" w="0">
            <a:solidFill>
              <a:srgbClr val="C5CAD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E81403-80B2-4FBA-9B24-57608460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2482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 i="0">
                <a:solidFill>
                  <a:srgbClr val="1C77C3"/>
                </a:solidFill>
                <a:latin typeface="Noto Sans Thai"/>
                <a:ea typeface="Noto Sans Thai"/>
                <a:cs typeface="Noto Sans Thai"/>
              </a:rPr>
              <a:t>NEXT DECISION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FBD642-B706-4F71-8375-62A5CAFD8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72125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75" b="1" i="0">
                <a:solidFill>
                  <a:srgbClr val="0B1220"/>
                </a:solidFill>
                <a:latin typeface="Noto Sans Thai"/>
                <a:ea typeface="Noto Sans Thai"/>
                <a:cs typeface="Noto Sans Thai"/>
              </a:rPr>
              <a:t>จัดลำดับ data connectors และเจ้าของข้อมูลภาคสนามก่อนขยาย AI provider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0A67C4-5B67-4A63-B0FA-64231AAB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2457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0" i="0">
                <a:solidFill>
                  <a:srgbClr val="5B6574"/>
                </a:solidFill>
                <a:latin typeface="Noto Sans Thai"/>
                <a:ea typeface="Noto Sans Thai"/>
                <a:cs typeface="Noto Sans Thai"/>
              </a:rPr>
              <a:t>Digital Twin = shared context + accountable action</a:t>
            </a:r>
          </a:p>
        </p:txBody>
      </p:sp>
    </p:spTree>
    <p:extLst>
      <p:ext uri="{BB962C8B-B14F-4D97-AF65-F5344CB8AC3E}">
        <p14:creationId xmlns:p14="http://schemas.microsoft.com/office/powerpoint/2010/main" val="14867225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2026-08-05T17:52:03.6770000Z</dcterms:created>
  <dcterms:modified xsi:type="dcterms:W3CDTF">2026-08-05T17:52:03.6770000Z</dcterms:modified>
</coreProperties>
</file>